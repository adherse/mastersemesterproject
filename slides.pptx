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91" r:id="rId4"/>
    <p:sldId id="297" r:id="rId5"/>
    <p:sldId id="298" r:id="rId6"/>
    <p:sldId id="299" r:id="rId7"/>
    <p:sldId id="300" r:id="rId8"/>
    <p:sldId id="289" r:id="rId9"/>
    <p:sldId id="301" r:id="rId10"/>
    <p:sldId id="290" r:id="rId11"/>
  </p:sldIdLst>
  <p:sldSz cx="9144000" cy="5143500" type="screen16x9"/>
  <p:notesSz cx="6858000" cy="9144000"/>
  <p:embeddedFontLst>
    <p:embeddedFont>
      <p:font typeface="Lato" panose="020B0604020202020204" charset="0"/>
      <p:regular r:id="rId13"/>
      <p:bold r:id="rId14"/>
      <p:italic r:id="rId15"/>
      <p:boldItalic r:id="rId16"/>
    </p:embeddedFont>
    <p:embeddedFont>
      <p:font typeface="Montserrat" panose="020B0604020202020204" charset="0"/>
      <p:regular r:id="rId17"/>
      <p:bold r:id="rId18"/>
      <p:italic r:id="rId19"/>
      <p:boldItalic r:id="rId20"/>
    </p:embeddedFont>
    <p:embeddedFont>
      <p:font typeface="Oswald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3C1CFE-B56D-4D1E-9F17-7AB09826FBFC}">
  <a:tblStyle styleId="{FD3C1CFE-B56D-4D1E-9F17-7AB09826FB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a9a05d54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a9a05d54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a9a05d54a0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a9a05d54a0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9396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a9a05d54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a9a05d54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6517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a9a05d54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a9a05d54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3850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a9a05d54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a9a05d54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1696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a9a05d54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a9a05d54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6572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a9a94b334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a9a94b3349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7158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a9a94b334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a9a94b3349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741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a9a94b334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a9a94b3349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1527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subTitle" idx="1"/>
          </p:nvPr>
        </p:nvSpPr>
        <p:spPr>
          <a:xfrm>
            <a:off x="4572000" y="2919900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 dirty="0" err="1">
                <a:solidFill>
                  <a:srgbClr val="EFEFEF"/>
                </a:solidFill>
              </a:rPr>
              <a:t>Optional</a:t>
            </a:r>
            <a:r>
              <a:rPr lang="fr-FR" sz="2000" b="1" dirty="0">
                <a:solidFill>
                  <a:srgbClr val="EFEFEF"/>
                </a:solidFill>
              </a:rPr>
              <a:t> </a:t>
            </a:r>
            <a:r>
              <a:rPr lang="fr-FR" sz="2000" b="1" dirty="0" err="1">
                <a:solidFill>
                  <a:srgbClr val="EFEFEF"/>
                </a:solidFill>
              </a:rPr>
              <a:t>semester</a:t>
            </a:r>
            <a:r>
              <a:rPr lang="fr-FR" sz="2000" b="1" dirty="0">
                <a:solidFill>
                  <a:srgbClr val="EFEFEF"/>
                </a:solidFill>
              </a:rPr>
              <a:t> </a:t>
            </a:r>
            <a:r>
              <a:rPr lang="fr-FR" sz="2000" b="1" dirty="0" err="1">
                <a:solidFill>
                  <a:srgbClr val="EFEFEF"/>
                </a:solidFill>
              </a:rPr>
              <a:t>project</a:t>
            </a:r>
            <a:r>
              <a:rPr lang="fr-FR" sz="2000" b="1" dirty="0">
                <a:solidFill>
                  <a:srgbClr val="EFEFEF"/>
                </a:solidFill>
              </a:rPr>
              <a:t> – Motion estimation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1600" b="1" dirty="0">
              <a:solidFill>
                <a:srgbClr val="EFEFE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dirty="0">
                <a:solidFill>
                  <a:srgbClr val="EFEFEF"/>
                </a:solidFill>
              </a:rPr>
              <a:t>Dherse Alexandre</a:t>
            </a:r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542199"/>
            <a:ext cx="3306755" cy="168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EFEFEF"/>
                </a:solidFill>
                <a:latin typeface="Oswald"/>
                <a:ea typeface="Oswald"/>
                <a:cs typeface="Oswald"/>
                <a:sym typeface="Oswald"/>
              </a:rPr>
              <a:t>Formula Student</a:t>
            </a:r>
            <a:endParaRPr sz="3000">
              <a:solidFill>
                <a:srgbClr val="EFEFE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Arial"/>
              <a:buChar char="❏"/>
            </a:pPr>
            <a:r>
              <a:rPr lang="fr" sz="160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Worldwide race car championship between universities</a:t>
            </a:r>
            <a:endParaRPr sz="1600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Arial"/>
              <a:buChar char="❏"/>
            </a:pPr>
            <a:r>
              <a:rPr lang="fr" sz="160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10 competitions</a:t>
            </a:r>
            <a:endParaRPr sz="1600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Arial"/>
              <a:buChar char="❏"/>
            </a:pPr>
            <a:r>
              <a:rPr lang="fr" sz="160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Multiple driverless events</a:t>
            </a:r>
            <a:endParaRPr sz="1600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Arial"/>
              <a:buChar char="❏"/>
            </a:pPr>
            <a:r>
              <a:rPr lang="fr" sz="160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Our focus : </a:t>
            </a:r>
            <a:r>
              <a:rPr lang="fr" sz="1600" b="1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straight line acceleration, skidpad and trackdrive</a:t>
            </a:r>
            <a:endParaRPr sz="1100">
              <a:solidFill>
                <a:srgbClr val="EFEFEF"/>
              </a:solidFill>
            </a:endParaRPr>
          </a:p>
        </p:txBody>
      </p:sp>
      <p:pic>
        <p:nvPicPr>
          <p:cNvPr id="143" name="Google Shape;14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0700" y="1736850"/>
            <a:ext cx="3635724" cy="2423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000" dirty="0">
                <a:solidFill>
                  <a:srgbClr val="EFEFEF"/>
                </a:solidFill>
                <a:latin typeface="Oswald"/>
                <a:ea typeface="Oswald"/>
                <a:cs typeface="Oswald"/>
                <a:sym typeface="Oswald"/>
              </a:rPr>
              <a:t>Types of </a:t>
            </a:r>
            <a:r>
              <a:rPr lang="fr-FR" sz="3000" dirty="0" err="1">
                <a:solidFill>
                  <a:srgbClr val="EFEFEF"/>
                </a:solidFill>
                <a:latin typeface="Oswald"/>
                <a:ea typeface="Oswald"/>
                <a:cs typeface="Oswald"/>
                <a:sym typeface="Oswald"/>
              </a:rPr>
              <a:t>events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❏"/>
            </a:pPr>
            <a:r>
              <a:rPr lang="fr-FR" sz="1600" b="1" dirty="0">
                <a:latin typeface="Arial"/>
                <a:ea typeface="Arial"/>
                <a:cs typeface="Arial"/>
                <a:sym typeface="Arial"/>
              </a:rPr>
              <a:t>Straight line </a:t>
            </a:r>
            <a:r>
              <a:rPr lang="fr-FR" sz="1600" b="1" dirty="0" err="1">
                <a:latin typeface="Arial"/>
                <a:ea typeface="Arial"/>
                <a:cs typeface="Arial"/>
                <a:sym typeface="Arial"/>
              </a:rPr>
              <a:t>acceleration</a:t>
            </a:r>
            <a:r>
              <a:rPr lang="fr-FR" sz="1600" b="1" dirty="0"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fr-FR" sz="1600" b="1" dirty="0" err="1">
                <a:latin typeface="Arial"/>
                <a:ea typeface="Arial"/>
                <a:cs typeface="Arial"/>
                <a:sym typeface="Arial"/>
              </a:rPr>
              <a:t>skidpad</a:t>
            </a:r>
            <a:r>
              <a:rPr lang="fr" sz="1600" b="1" dirty="0">
                <a:latin typeface="Arial"/>
                <a:ea typeface="Arial"/>
                <a:cs typeface="Arial"/>
                <a:sym typeface="Arial"/>
              </a:rPr>
              <a:t> :</a:t>
            </a:r>
            <a:endParaRPr sz="1600" b="1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❏"/>
            </a:pPr>
            <a:r>
              <a:rPr lang="fr-FR" sz="1600" dirty="0">
                <a:latin typeface="Arial"/>
                <a:ea typeface="Arial"/>
                <a:cs typeface="Arial"/>
                <a:sym typeface="Arial"/>
              </a:rPr>
              <a:t>Circuit </a:t>
            </a:r>
            <a:r>
              <a:rPr lang="fr-FR" sz="1600" dirty="0" err="1">
                <a:latin typeface="Arial"/>
                <a:ea typeface="Arial"/>
                <a:cs typeface="Arial"/>
                <a:sym typeface="Arial"/>
              </a:rPr>
              <a:t>is</a:t>
            </a:r>
            <a:r>
              <a:rPr lang="fr-FR" sz="16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FR" sz="1600" dirty="0" err="1">
                <a:latin typeface="Arial"/>
                <a:ea typeface="Arial"/>
                <a:cs typeface="Arial"/>
                <a:sym typeface="Arial"/>
              </a:rPr>
              <a:t>known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❏"/>
            </a:pPr>
            <a:r>
              <a:rPr lang="fr-FR" sz="1600" b="1" dirty="0" err="1">
                <a:latin typeface="Arial"/>
                <a:ea typeface="Arial"/>
                <a:cs typeface="Arial"/>
                <a:sym typeface="Arial"/>
              </a:rPr>
              <a:t>Trackdrive</a:t>
            </a:r>
            <a:r>
              <a:rPr lang="fr" sz="1600" b="1" dirty="0">
                <a:latin typeface="Arial"/>
                <a:ea typeface="Arial"/>
                <a:cs typeface="Arial"/>
                <a:sym typeface="Arial"/>
              </a:rPr>
              <a:t> : </a:t>
            </a:r>
            <a:endParaRPr sz="1600" b="1" dirty="0">
              <a:latin typeface="Arial"/>
              <a:ea typeface="Arial"/>
              <a:cs typeface="Arial"/>
              <a:sym typeface="Arial"/>
            </a:endParaRPr>
          </a:p>
          <a:p>
            <a:pPr lvl="1" indent="-330200">
              <a:spcBef>
                <a:spcPts val="0"/>
              </a:spcBef>
              <a:buSzPts val="1600"/>
              <a:buFont typeface="Arial"/>
              <a:buChar char="❏"/>
            </a:pPr>
            <a:r>
              <a:rPr lang="fr-FR" sz="1600" dirty="0">
                <a:latin typeface="Arial"/>
                <a:ea typeface="Arial"/>
                <a:cs typeface="Arial"/>
                <a:sym typeface="Arial"/>
              </a:rPr>
              <a:t>Circuit </a:t>
            </a:r>
            <a:r>
              <a:rPr lang="fr-FR" sz="1600" dirty="0" err="1">
                <a:latin typeface="Arial"/>
                <a:ea typeface="Arial"/>
                <a:cs typeface="Arial"/>
                <a:sym typeface="Arial"/>
              </a:rPr>
              <a:t>is</a:t>
            </a:r>
            <a:r>
              <a:rPr lang="fr-FR" sz="1600" dirty="0">
                <a:latin typeface="Arial"/>
                <a:ea typeface="Arial"/>
                <a:cs typeface="Arial"/>
                <a:sym typeface="Arial"/>
              </a:rPr>
              <a:t> not </a:t>
            </a:r>
            <a:r>
              <a:rPr lang="fr-FR" sz="1600" dirty="0" err="1">
                <a:latin typeface="Arial"/>
                <a:ea typeface="Arial"/>
                <a:cs typeface="Arial"/>
                <a:sym typeface="Arial"/>
              </a:rPr>
              <a:t>known</a:t>
            </a:r>
            <a:r>
              <a:rPr lang="fr-FR" sz="1600" dirty="0"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fr-FR" sz="1600" dirty="0" err="1">
                <a:latin typeface="Arial"/>
                <a:ea typeface="Arial"/>
                <a:cs typeface="Arial"/>
                <a:sym typeface="Arial"/>
              </a:rPr>
              <a:t>advance</a:t>
            </a:r>
            <a:endParaRPr lang="fr-FR" sz="1600" dirty="0">
              <a:latin typeface="Arial"/>
              <a:ea typeface="Arial"/>
              <a:cs typeface="Arial"/>
              <a:sym typeface="Arial"/>
            </a:endParaRPr>
          </a:p>
          <a:p>
            <a:pPr lvl="1" indent="-330200">
              <a:spcBef>
                <a:spcPts val="0"/>
              </a:spcBef>
              <a:buSzPts val="1600"/>
              <a:buFont typeface="Arial"/>
              <a:buChar char="❏"/>
            </a:pPr>
            <a:r>
              <a:rPr lang="fr-FR" sz="1600" dirty="0">
                <a:latin typeface="Arial"/>
                <a:ea typeface="Arial"/>
                <a:cs typeface="Arial"/>
                <a:sym typeface="Arial"/>
              </a:rPr>
              <a:t>First lap </a:t>
            </a:r>
            <a:r>
              <a:rPr lang="fr-FR" sz="1600" dirty="0" err="1">
                <a:latin typeface="Arial"/>
                <a:ea typeface="Arial"/>
                <a:cs typeface="Arial"/>
                <a:sym typeface="Arial"/>
              </a:rPr>
              <a:t>is</a:t>
            </a:r>
            <a:r>
              <a:rPr lang="fr-FR" sz="16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FR" sz="1600" dirty="0" err="1">
                <a:latin typeface="Arial"/>
                <a:ea typeface="Arial"/>
                <a:cs typeface="Arial"/>
                <a:sym typeface="Arial"/>
              </a:rPr>
              <a:t>recongnition</a:t>
            </a:r>
            <a:r>
              <a:rPr lang="fr-FR" sz="1600" dirty="0">
                <a:latin typeface="Arial"/>
                <a:ea typeface="Arial"/>
                <a:cs typeface="Arial"/>
                <a:sym typeface="Arial"/>
              </a:rPr>
              <a:t> lap</a:t>
            </a: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❏"/>
            </a:pPr>
            <a:endParaRPr sz="1600" b="1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8" name="Picture 4" descr="MOBA Mobile Automation AG">
            <a:extLst>
              <a:ext uri="{FF2B5EF4-FFF2-40B4-BE49-F238E27FC236}">
                <a16:creationId xmlns:a16="http://schemas.microsoft.com/office/drawing/2014/main" id="{BE13B088-C38F-4A6B-8417-0740212E7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8347" y="1567550"/>
            <a:ext cx="3602131" cy="2401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067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000" dirty="0">
                <a:solidFill>
                  <a:srgbClr val="EFEFEF"/>
                </a:solidFill>
                <a:latin typeface="Oswald"/>
                <a:ea typeface="Oswald"/>
                <a:cs typeface="Oswald"/>
                <a:sym typeface="Oswald"/>
              </a:rPr>
              <a:t>Goals of </a:t>
            </a:r>
            <a:r>
              <a:rPr lang="fr-FR" sz="3000" dirty="0" err="1">
                <a:solidFill>
                  <a:srgbClr val="EFEFEF"/>
                </a:solidFill>
                <a:latin typeface="Oswald"/>
                <a:ea typeface="Oswald"/>
                <a:cs typeface="Oswald"/>
                <a:sym typeface="Oswald"/>
              </a:rPr>
              <a:t>project</a:t>
            </a:r>
            <a:endParaRPr sz="3000" dirty="0">
              <a:solidFill>
                <a:srgbClr val="EFEFE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43712" y="1466697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600" dirty="0"/>
              <a:t>Using the sensors on the car, compute a reliable and accurate estimate of its state.</a:t>
            </a:r>
          </a:p>
          <a:p>
            <a:pPr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600" dirty="0"/>
              <a:t>Position, speed, acceleration, heading and yaw rate of the car.</a:t>
            </a:r>
          </a:p>
          <a:p>
            <a:pPr indent="-330200">
              <a:buClr>
                <a:srgbClr val="EFEFEF"/>
              </a:buClr>
              <a:buSzPts val="1600"/>
              <a:buFont typeface="Arial"/>
              <a:buChar char="❏"/>
            </a:pPr>
            <a:endParaRPr lang="en-US" sz="1600" dirty="0"/>
          </a:p>
          <a:p>
            <a:pPr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600" dirty="0"/>
              <a:t>Useful for other modules :</a:t>
            </a:r>
          </a:p>
          <a:p>
            <a:pPr lvl="1"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050" dirty="0"/>
              <a:t>SLAM algorithm </a:t>
            </a:r>
          </a:p>
          <a:p>
            <a:pPr lvl="1"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050" dirty="0"/>
              <a:t>Motion control</a:t>
            </a:r>
          </a:p>
        </p:txBody>
      </p:sp>
    </p:spTree>
    <p:extLst>
      <p:ext uri="{BB962C8B-B14F-4D97-AF65-F5344CB8AC3E}">
        <p14:creationId xmlns:p14="http://schemas.microsoft.com/office/powerpoint/2010/main" val="3747705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000" dirty="0">
                <a:solidFill>
                  <a:srgbClr val="EFEFEF"/>
                </a:solidFill>
                <a:latin typeface="Oswald"/>
                <a:ea typeface="Oswald"/>
                <a:cs typeface="Oswald"/>
                <a:sym typeface="Oswald"/>
              </a:rPr>
              <a:t>Inputs and motivation</a:t>
            </a:r>
            <a:endParaRPr sz="3000" dirty="0">
              <a:solidFill>
                <a:srgbClr val="EFEFE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43712" y="1466697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600" dirty="0"/>
              <a:t>Using sensors already on racecar : </a:t>
            </a:r>
          </a:p>
          <a:p>
            <a:pPr lvl="1"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000" dirty="0"/>
              <a:t>Inertial Navigation System containing accelerometers, gyroscopes and a GNSS receiver</a:t>
            </a:r>
          </a:p>
          <a:p>
            <a:pPr lvl="1"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000" dirty="0"/>
              <a:t>Wheel Speed Sensors on front wheels</a:t>
            </a:r>
          </a:p>
          <a:p>
            <a:pPr indent="-330200">
              <a:buClr>
                <a:srgbClr val="EFEFEF"/>
              </a:buClr>
              <a:buSzPts val="1600"/>
              <a:buFont typeface="Arial"/>
              <a:buChar char="❏"/>
            </a:pPr>
            <a:endParaRPr lang="en-US" sz="1600" dirty="0"/>
          </a:p>
          <a:p>
            <a:pPr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600" dirty="0"/>
              <a:t>Issues :</a:t>
            </a:r>
          </a:p>
          <a:p>
            <a:pPr lvl="1"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000" dirty="0"/>
              <a:t>INS can suffer from  accumulated errors</a:t>
            </a:r>
          </a:p>
          <a:p>
            <a:pPr lvl="1"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000" dirty="0"/>
              <a:t>Wheel sensors inaccurate at low speeds,  can lock up when driving at the limit </a:t>
            </a:r>
          </a:p>
          <a:p>
            <a:pPr lvl="1"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000" dirty="0"/>
              <a:t>Need to have coherent output in case of sensor failure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4113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000" dirty="0" err="1">
                <a:solidFill>
                  <a:srgbClr val="EFEFEF"/>
                </a:solidFill>
                <a:latin typeface="Oswald"/>
                <a:ea typeface="Oswald"/>
                <a:cs typeface="Oswald"/>
                <a:sym typeface="Oswald"/>
              </a:rPr>
              <a:t>Proposed</a:t>
            </a:r>
            <a:r>
              <a:rPr lang="fr-FR" sz="3000" dirty="0">
                <a:solidFill>
                  <a:srgbClr val="EFEFEF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fr-FR" sz="3000" dirty="0" err="1">
                <a:solidFill>
                  <a:srgbClr val="EFEFEF"/>
                </a:solidFill>
                <a:latin typeface="Oswald"/>
                <a:ea typeface="Oswald"/>
                <a:cs typeface="Oswald"/>
                <a:sym typeface="Oswald"/>
              </a:rPr>
              <a:t>method</a:t>
            </a:r>
            <a:r>
              <a:rPr lang="fr-FR" sz="3000" dirty="0">
                <a:solidFill>
                  <a:srgbClr val="EFEFEF"/>
                </a:solidFill>
                <a:latin typeface="Oswald"/>
                <a:ea typeface="Oswald"/>
                <a:cs typeface="Oswald"/>
                <a:sym typeface="Oswald"/>
              </a:rPr>
              <a:t> : Extended </a:t>
            </a:r>
            <a:r>
              <a:rPr lang="fr-FR" sz="3000" dirty="0" err="1">
                <a:solidFill>
                  <a:srgbClr val="EFEFEF"/>
                </a:solidFill>
                <a:latin typeface="Oswald"/>
                <a:ea typeface="Oswald"/>
                <a:cs typeface="Oswald"/>
                <a:sym typeface="Oswald"/>
              </a:rPr>
              <a:t>Kalman</a:t>
            </a:r>
            <a:r>
              <a:rPr lang="fr-FR" sz="3000" dirty="0">
                <a:solidFill>
                  <a:srgbClr val="EFEFEF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fr-FR" sz="3000" dirty="0" err="1">
                <a:solidFill>
                  <a:srgbClr val="EFEFEF"/>
                </a:solidFill>
                <a:latin typeface="Oswald"/>
                <a:ea typeface="Oswald"/>
                <a:cs typeface="Oswald"/>
                <a:sym typeface="Oswald"/>
              </a:rPr>
              <a:t>Filter</a:t>
            </a:r>
            <a:endParaRPr sz="3000" dirty="0">
              <a:solidFill>
                <a:srgbClr val="EFEFE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43712" y="1466697"/>
            <a:ext cx="3328288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600" dirty="0"/>
              <a:t>2 states : predict and correct</a:t>
            </a:r>
          </a:p>
          <a:p>
            <a:pPr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600" dirty="0"/>
              <a:t>Recursive, fast (&lt;2ms on my pc)</a:t>
            </a:r>
          </a:p>
          <a:p>
            <a:pPr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600" dirty="0"/>
              <a:t>Can be updated asynchronously</a:t>
            </a:r>
          </a:p>
          <a:p>
            <a:pPr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600" dirty="0"/>
              <a:t>Will be computed on the </a:t>
            </a:r>
            <a:r>
              <a:rPr lang="en-US" sz="1600" dirty="0" err="1"/>
              <a:t>sbRIO’s</a:t>
            </a:r>
            <a:r>
              <a:rPr lang="en-US" sz="1600" dirty="0"/>
              <a:t> </a:t>
            </a:r>
            <a:r>
              <a:rPr lang="en-US" sz="1600" dirty="0" err="1"/>
              <a:t>cpu</a:t>
            </a:r>
            <a:r>
              <a:rPr lang="en-US" sz="1600" dirty="0"/>
              <a:t>, already on the car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AA2A628-C5FB-423C-B7A4-B4F224D84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307850"/>
            <a:ext cx="2716923" cy="318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446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000" dirty="0" err="1">
                <a:solidFill>
                  <a:srgbClr val="EFEFEF"/>
                </a:solidFill>
                <a:latin typeface="Oswald"/>
                <a:ea typeface="Oswald"/>
                <a:cs typeface="Oswald"/>
                <a:sym typeface="Oswald"/>
              </a:rPr>
              <a:t>Proposed</a:t>
            </a:r>
            <a:r>
              <a:rPr lang="fr-FR" sz="3000" dirty="0">
                <a:solidFill>
                  <a:srgbClr val="EFEFEF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fr-FR" sz="3000" dirty="0" err="1">
                <a:solidFill>
                  <a:srgbClr val="EFEFEF"/>
                </a:solidFill>
                <a:latin typeface="Oswald"/>
                <a:ea typeface="Oswald"/>
                <a:cs typeface="Oswald"/>
                <a:sym typeface="Oswald"/>
              </a:rPr>
              <a:t>method</a:t>
            </a:r>
            <a:r>
              <a:rPr lang="fr-FR" sz="3000" dirty="0">
                <a:solidFill>
                  <a:srgbClr val="EFEFEF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endParaRPr sz="3000" dirty="0">
              <a:solidFill>
                <a:srgbClr val="EFEFE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43712" y="1466697"/>
            <a:ext cx="3328288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600" dirty="0"/>
              <a:t>Kinematic model : not taking into account the dynamics of racecar</a:t>
            </a:r>
          </a:p>
          <a:p>
            <a:pPr lvl="1"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050" dirty="0"/>
              <a:t>CTRA model (constant turn rate and acceleration)</a:t>
            </a:r>
          </a:p>
          <a:p>
            <a:pPr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600" dirty="0"/>
              <a:t>Need to deal with outliers from sensor failure</a:t>
            </a:r>
          </a:p>
          <a:p>
            <a:pPr lvl="1"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dirty="0"/>
              <a:t>For now,  simple check if value is feasible.</a:t>
            </a:r>
          </a:p>
          <a:p>
            <a:pPr marL="584200" lvl="1" indent="0">
              <a:buClr>
                <a:srgbClr val="EFEFEF"/>
              </a:buClr>
              <a:buSzPts val="1600"/>
              <a:buNone/>
            </a:pPr>
            <a:endParaRPr lang="en-US" sz="1400" dirty="0"/>
          </a:p>
          <a:p>
            <a:pPr indent="-330200">
              <a:buClr>
                <a:srgbClr val="EFEFEF"/>
              </a:buClr>
              <a:buSzPts val="1600"/>
              <a:buFont typeface="Arial"/>
              <a:buChar char="❏"/>
            </a:pPr>
            <a:endParaRPr lang="en-US" sz="16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AA2A628-C5FB-423C-B7A4-B4F224D84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307850"/>
            <a:ext cx="2716923" cy="318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962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 txBox="1">
            <a:spLocks noGrp="1"/>
          </p:cNvSpPr>
          <p:nvPr>
            <p:ph type="title"/>
          </p:nvPr>
        </p:nvSpPr>
        <p:spPr>
          <a:xfrm>
            <a:off x="1312800" y="5461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000" dirty="0" err="1">
                <a:latin typeface="Oswald"/>
                <a:ea typeface="Oswald"/>
                <a:cs typeface="Oswald"/>
                <a:sym typeface="Oswald"/>
              </a:rPr>
              <a:t>Results</a:t>
            </a:r>
            <a:endParaRPr sz="3000"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41" name="Google Shape;341;p34"/>
          <p:cNvSpPr txBox="1">
            <a:spLocks noGrp="1"/>
          </p:cNvSpPr>
          <p:nvPr>
            <p:ph type="body" idx="1"/>
          </p:nvPr>
        </p:nvSpPr>
        <p:spPr>
          <a:xfrm>
            <a:off x="672899" y="1460250"/>
            <a:ext cx="3899101" cy="31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lang="fr-FR" sz="15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5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500" dirty="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5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500" dirty="0"/>
          </a:p>
        </p:txBody>
      </p:sp>
      <p:sp>
        <p:nvSpPr>
          <p:cNvPr id="8" name="Google Shape;141;p14">
            <a:extLst>
              <a:ext uri="{FF2B5EF4-FFF2-40B4-BE49-F238E27FC236}">
                <a16:creationId xmlns:a16="http://schemas.microsoft.com/office/drawing/2014/main" id="{801058B4-5787-4C66-A25C-5815C63E0D2F}"/>
              </a:ext>
            </a:extLst>
          </p:cNvPr>
          <p:cNvSpPr txBox="1">
            <a:spLocks/>
          </p:cNvSpPr>
          <p:nvPr/>
        </p:nvSpPr>
        <p:spPr>
          <a:xfrm>
            <a:off x="1039714" y="1460250"/>
            <a:ext cx="3209721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600" dirty="0"/>
              <a:t>No dataset found with the combination of sensors we have</a:t>
            </a:r>
          </a:p>
          <a:p>
            <a:pPr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600" dirty="0"/>
              <a:t>Tests on dataset with IMU + GPS</a:t>
            </a:r>
          </a:p>
          <a:p>
            <a:pPr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600" dirty="0"/>
              <a:t>Qualitative results</a:t>
            </a:r>
            <a:endParaRPr lang="en-US" sz="1400" dirty="0"/>
          </a:p>
          <a:p>
            <a:pPr indent="-330200">
              <a:buClr>
                <a:srgbClr val="EFEFEF"/>
              </a:buClr>
              <a:buSzPts val="1600"/>
              <a:buFont typeface="Arial"/>
              <a:buChar char="❏"/>
            </a:pPr>
            <a:endParaRPr lang="en-US" dirty="0"/>
          </a:p>
          <a:p>
            <a:pPr marL="584200" lvl="1" indent="0">
              <a:buClr>
                <a:srgbClr val="EFEFEF"/>
              </a:buClr>
              <a:buSzPts val="1600"/>
              <a:buFont typeface="Lato"/>
              <a:buNone/>
            </a:pPr>
            <a:endParaRPr lang="en-US" sz="1400" dirty="0"/>
          </a:p>
          <a:p>
            <a:pPr indent="-330200">
              <a:buClr>
                <a:srgbClr val="EFEFEF"/>
              </a:buClr>
              <a:buSzPts val="1600"/>
              <a:buFont typeface="Arial"/>
              <a:buChar char="❏"/>
            </a:pPr>
            <a:endParaRPr lang="en-US" sz="16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4C84E96-DCE6-4260-AAEA-7BD05699F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431" y="2915850"/>
            <a:ext cx="4556455" cy="173099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4D000568-D5DA-4876-B29B-D62EFC52D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431" y="490050"/>
            <a:ext cx="4556454" cy="212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599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 txBox="1">
            <a:spLocks noGrp="1"/>
          </p:cNvSpPr>
          <p:nvPr>
            <p:ph type="title"/>
          </p:nvPr>
        </p:nvSpPr>
        <p:spPr>
          <a:xfrm>
            <a:off x="1312800" y="5461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000" dirty="0" err="1">
                <a:latin typeface="Oswald"/>
                <a:ea typeface="Oswald"/>
                <a:cs typeface="Oswald"/>
                <a:sym typeface="Oswald"/>
              </a:rPr>
              <a:t>Testing</a:t>
            </a:r>
            <a:endParaRPr sz="3000"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41" name="Google Shape;341;p34"/>
          <p:cNvSpPr txBox="1">
            <a:spLocks noGrp="1"/>
          </p:cNvSpPr>
          <p:nvPr>
            <p:ph type="body" idx="1"/>
          </p:nvPr>
        </p:nvSpPr>
        <p:spPr>
          <a:xfrm>
            <a:off x="672899" y="1460250"/>
            <a:ext cx="3899101" cy="31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lang="fr-FR" sz="15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5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500" dirty="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5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500" dirty="0"/>
          </a:p>
        </p:txBody>
      </p:sp>
      <p:sp>
        <p:nvSpPr>
          <p:cNvPr id="8" name="Google Shape;141;p14">
            <a:extLst>
              <a:ext uri="{FF2B5EF4-FFF2-40B4-BE49-F238E27FC236}">
                <a16:creationId xmlns:a16="http://schemas.microsoft.com/office/drawing/2014/main" id="{801058B4-5787-4C66-A25C-5815C63E0D2F}"/>
              </a:ext>
            </a:extLst>
          </p:cNvPr>
          <p:cNvSpPr txBox="1">
            <a:spLocks/>
          </p:cNvSpPr>
          <p:nvPr/>
        </p:nvSpPr>
        <p:spPr>
          <a:xfrm>
            <a:off x="1017588" y="1460250"/>
            <a:ext cx="3209721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800" dirty="0"/>
              <a:t>Also briefly tested with VITA lab robots</a:t>
            </a:r>
          </a:p>
          <a:p>
            <a:pPr lvl="1"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600" dirty="0"/>
              <a:t>No data fusion / already using KF</a:t>
            </a:r>
          </a:p>
          <a:p>
            <a:pPr marL="584200" lvl="1" indent="0">
              <a:buClr>
                <a:srgbClr val="EFEFEF"/>
              </a:buClr>
              <a:buSzPts val="1600"/>
              <a:buFont typeface="Lato"/>
              <a:buNone/>
            </a:pPr>
            <a:endParaRPr lang="en-US" sz="1400" dirty="0"/>
          </a:p>
          <a:p>
            <a:pPr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600" dirty="0"/>
              <a:t>Simulation testing next semester</a:t>
            </a:r>
          </a:p>
        </p:txBody>
      </p:sp>
      <p:pic>
        <p:nvPicPr>
          <p:cNvPr id="2050" name="Picture 2" descr="Teaching ‒ VITA ‐ EPFL">
            <a:extLst>
              <a:ext uri="{FF2B5EF4-FFF2-40B4-BE49-F238E27FC236}">
                <a16:creationId xmlns:a16="http://schemas.microsoft.com/office/drawing/2014/main" id="{699D9E0C-2981-413B-841E-D9994E66F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293" y="1116150"/>
            <a:ext cx="4362308" cy="29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558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 txBox="1">
            <a:spLocks noGrp="1"/>
          </p:cNvSpPr>
          <p:nvPr>
            <p:ph type="title"/>
          </p:nvPr>
        </p:nvSpPr>
        <p:spPr>
          <a:xfrm>
            <a:off x="1312800" y="5461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000" dirty="0">
                <a:latin typeface="Oswald"/>
                <a:ea typeface="Oswald"/>
                <a:cs typeface="Oswald"/>
                <a:sym typeface="Oswald"/>
              </a:rPr>
              <a:t>Next </a:t>
            </a:r>
            <a:r>
              <a:rPr lang="fr-FR" sz="3000" dirty="0" err="1">
                <a:latin typeface="Oswald"/>
                <a:ea typeface="Oswald"/>
                <a:cs typeface="Oswald"/>
                <a:sym typeface="Oswald"/>
              </a:rPr>
              <a:t>steps</a:t>
            </a:r>
            <a:endParaRPr sz="3000"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" name="Google Shape;141;p14">
            <a:extLst>
              <a:ext uri="{FF2B5EF4-FFF2-40B4-BE49-F238E27FC236}">
                <a16:creationId xmlns:a16="http://schemas.microsoft.com/office/drawing/2014/main" id="{05CF16C3-87D7-4E89-A88A-3C2ABEC33C16}"/>
              </a:ext>
            </a:extLst>
          </p:cNvPr>
          <p:cNvSpPr txBox="1">
            <a:spLocks/>
          </p:cNvSpPr>
          <p:nvPr/>
        </p:nvSpPr>
        <p:spPr>
          <a:xfrm>
            <a:off x="464437" y="1369158"/>
            <a:ext cx="4828032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27000" indent="0">
              <a:buClr>
                <a:srgbClr val="EFEFEF"/>
              </a:buClr>
              <a:buSzPts val="1600"/>
              <a:buNone/>
            </a:pPr>
            <a:r>
              <a:rPr lang="en-US" sz="1800" dirty="0"/>
              <a:t>Improve results for performance driving</a:t>
            </a:r>
          </a:p>
          <a:p>
            <a:pPr marL="127000" indent="0">
              <a:buClr>
                <a:srgbClr val="EFEFEF"/>
              </a:buClr>
              <a:buSzPts val="1600"/>
              <a:buNone/>
            </a:pPr>
            <a:endParaRPr lang="en-US" sz="1800" dirty="0"/>
          </a:p>
          <a:p>
            <a:pPr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800" dirty="0"/>
              <a:t>New optical sensor : </a:t>
            </a:r>
            <a:r>
              <a:rPr lang="en-US" sz="1800" dirty="0" err="1"/>
              <a:t>Correvit</a:t>
            </a:r>
            <a:r>
              <a:rPr lang="en-US" sz="1800" dirty="0"/>
              <a:t> SFII</a:t>
            </a:r>
          </a:p>
          <a:p>
            <a:pPr lvl="1"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dirty="0"/>
              <a:t>Measures speed &amp; slip angle</a:t>
            </a:r>
          </a:p>
          <a:p>
            <a:pPr lvl="1"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dirty="0"/>
              <a:t>Lightweight, suited for racing applications</a:t>
            </a:r>
          </a:p>
          <a:p>
            <a:pPr lvl="1"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dirty="0"/>
              <a:t>Sponsoring deal in the works</a:t>
            </a:r>
          </a:p>
          <a:p>
            <a:pPr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sz="1800" dirty="0"/>
              <a:t>Visual odometry</a:t>
            </a:r>
          </a:p>
          <a:p>
            <a:pPr lvl="1"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dirty="0"/>
              <a:t>Use data from SLAM </a:t>
            </a:r>
          </a:p>
          <a:p>
            <a:pPr lvl="1" indent="-330200">
              <a:buClr>
                <a:srgbClr val="EFEFEF"/>
              </a:buClr>
              <a:buSzPts val="1600"/>
              <a:buFont typeface="Arial"/>
              <a:buChar char="❏"/>
            </a:pPr>
            <a:r>
              <a:rPr lang="en-US" dirty="0"/>
              <a:t>Projection onto feasible space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24BC132-0D86-437C-BDA4-1A1BBA95D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469" y="1242749"/>
            <a:ext cx="3491649" cy="26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978586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434343"/>
      </a:dk1>
      <a:lt1>
        <a:srgbClr val="FFFFFF"/>
      </a:lt1>
      <a:dk2>
        <a:srgbClr val="D9D9D9"/>
      </a:dk2>
      <a:lt2>
        <a:srgbClr val="EB2727"/>
      </a:lt2>
      <a:accent1>
        <a:srgbClr val="EFEFEF"/>
      </a:accent1>
      <a:accent2>
        <a:srgbClr val="EB2727"/>
      </a:accent2>
      <a:accent3>
        <a:srgbClr val="666666"/>
      </a:accent3>
      <a:accent4>
        <a:srgbClr val="F4D6AD"/>
      </a:accent4>
      <a:accent5>
        <a:srgbClr val="CF5959"/>
      </a:accent5>
      <a:accent6>
        <a:srgbClr val="CF5959"/>
      </a:accent6>
      <a:hlink>
        <a:srgbClr val="FF0000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313</Words>
  <Application>Microsoft Office PowerPoint</Application>
  <PresentationFormat>Affichage à l'écran (16:9)</PresentationFormat>
  <Paragraphs>66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Montserrat</vt:lpstr>
      <vt:lpstr>Oswald</vt:lpstr>
      <vt:lpstr>Arial</vt:lpstr>
      <vt:lpstr>Lato</vt:lpstr>
      <vt:lpstr>Focus</vt:lpstr>
      <vt:lpstr>Présentation PowerPoint</vt:lpstr>
      <vt:lpstr>Formula Student </vt:lpstr>
      <vt:lpstr>Types of events </vt:lpstr>
      <vt:lpstr>Goals of project </vt:lpstr>
      <vt:lpstr>Inputs and motivation </vt:lpstr>
      <vt:lpstr>Proposed method : Extended Kalman Filter </vt:lpstr>
      <vt:lpstr>Proposed method  </vt:lpstr>
      <vt:lpstr>Results</vt:lpstr>
      <vt:lpstr>Testing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Alexandre Dherse</cp:lastModifiedBy>
  <cp:revision>25</cp:revision>
  <dcterms:modified xsi:type="dcterms:W3CDTF">2021-01-20T14:25:15Z</dcterms:modified>
</cp:coreProperties>
</file>